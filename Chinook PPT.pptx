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6" r:id="rId6"/>
    <p:sldId id="264" r:id="rId7"/>
    <p:sldId id="265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D00"/>
    <a:srgbClr val="E84C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4000E3-AFDA-4530-9B84-2C91012D2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443E966-4D04-4D15-B8DC-A8B1CC010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B3B682-D1C1-4D37-B6A9-44FD7E9D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4935B5-3D78-4976-B470-E6E7E08A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097590F-C168-4EE6-B455-5647B594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24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8E34BE-0C6B-4994-B196-C7D85518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FBCE9-C4C1-40FF-BAB2-D82159E59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FBB769-5EEE-409E-96DD-2163B433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138ECA-632B-4414-8B20-E8C176F0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D57364-9363-43C1-84CC-9771C900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9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F84D36-E3F0-439F-8911-F38BDEFD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2E8839-0844-45C6-9FC9-B8FB450EC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55C4CE-25D7-435D-8A82-4F4CADD2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F4F9AB-7E0F-46D5-BCD4-052361CA9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2D0CE6-CFCB-4DBC-AF07-53564278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ABF8D7-06BC-4C7A-9DCF-24CFC33D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26A8C6-186A-42D8-85FF-444C8110B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BB7A32F-E333-47F6-BE8A-9C2276CA9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4803516-2DDF-4847-8466-C5219F07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1A441B-A806-4183-9B7D-790CC778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5A09F9-25B8-4DE9-A86F-EAFF6FC8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44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B19DC4-8491-4902-91D7-45D9EDAA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C1DCCD-CB0F-4E88-8FA0-4A7114DA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A8CE705-0597-4B79-9F8D-AA0E749C4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922AA11-B317-46A6-9BB4-4C408C068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102090F-8007-47CA-A8DD-9CEA42DD1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6122C5D-44D8-4784-A8B8-5A3D79D8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09BE3C9-B608-4B29-8BC8-12142F63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7A32E04-9C8C-4A9E-BB5C-BB8CD402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1855C-4F76-4676-9C39-AB39690A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68DAFE1-818E-4240-9976-B842F6DB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C45B647-7677-4D80-BA77-E9CC299F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611505D-CB03-42F6-9DAD-F0389392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90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C7733F6-B4AD-4FDB-9BD4-496F5D64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F8A040F-C910-494F-82B2-C15A492B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ED7C969-1195-4089-8778-15824266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8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53BB73-DA9A-4C9A-B7A7-3F589A7F3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7B98C0-43FD-4086-B3D2-599B4621C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25C7EDB-53C0-4D24-8871-505632F28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EC3861C-9C23-46F5-9715-966BF99F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6415800-617B-4AB2-B12C-DDC06F2A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34BFEE-ADBC-41EE-9C5D-4CA6EEA5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41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66D41-208B-4BD4-96F4-E3B37B4C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5A85A3F-E32F-41DD-B285-B8AD8370D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27D6FA2-1D9B-406E-86AA-674E2E854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E74653-880A-47CC-8961-DB2E37C1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DB9CE53-E158-42E5-AD49-EA97A901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65929E-DE1C-4F57-852D-C1A9D77F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2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F63EC9-4EC6-41E4-ADAB-D88B73C8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688D86D-8E21-4E0F-9A00-0E7D09DE1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746721-002D-42C4-9042-68AAB09D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D21E66-5428-45E3-BA30-2EA454DE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F5E087-1BE2-4567-9B7C-8ADCA24E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EA150CF-9230-45FE-8FD0-1C7717384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3EEE227-E958-4F28-B7A2-349CC0D9D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A26780-35E3-4548-AA04-B9D79D15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55B510-167C-45C3-924D-812B2319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CEF9B4-4C35-495C-B113-9688EDAD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30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9253E04-ECEC-4B59-B461-2BF312FF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CCE611-7955-4CFF-8B29-7C433627A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B02C60-41DC-4B73-92BA-FAD257AED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D0693-59D0-4FC8-9CB2-29D99B8A6A3E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401F64-6F84-458E-A29F-D129E3980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266300-A471-49EF-A3F5-49C784EFE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10D81-4BB6-4DB1-8592-EB9A684563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36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24BCE5D5-0A41-466B-B828-02250D36D3F8}"/>
              </a:ext>
            </a:extLst>
          </p:cNvPr>
          <p:cNvGrpSpPr/>
          <p:nvPr/>
        </p:nvGrpSpPr>
        <p:grpSpPr>
          <a:xfrm>
            <a:off x="0" y="761426"/>
            <a:ext cx="6096000" cy="6148825"/>
            <a:chOff x="0" y="901700"/>
            <a:chExt cx="5905128" cy="5956299"/>
          </a:xfrm>
        </p:grpSpPr>
        <p:pic>
          <p:nvPicPr>
            <p:cNvPr id="5" name="그림 39">
              <a:extLst>
                <a:ext uri="{FF2B5EF4-FFF2-40B4-BE49-F238E27FC236}">
                  <a16:creationId xmlns:a16="http://schemas.microsoft.com/office/drawing/2014/main" xmlns="" id="{79D5B039-D13A-456A-9CB4-2278EF54A7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90" y="4213951"/>
              <a:ext cx="809107" cy="1589949"/>
            </a:xfrm>
            <a:prstGeom prst="rect">
              <a:avLst/>
            </a:prstGeom>
          </p:spPr>
        </p:pic>
        <p:pic>
          <p:nvPicPr>
            <p:cNvPr id="6" name="그림 37">
              <a:extLst>
                <a:ext uri="{FF2B5EF4-FFF2-40B4-BE49-F238E27FC236}">
                  <a16:creationId xmlns:a16="http://schemas.microsoft.com/office/drawing/2014/main" xmlns="" id="{49856B8D-44DD-48D6-947E-7E1AB97C3A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9879" y="2302598"/>
              <a:ext cx="2005249" cy="1826644"/>
            </a:xfrm>
            <a:prstGeom prst="rect">
              <a:avLst/>
            </a:prstGeom>
          </p:spPr>
        </p:pic>
        <p:pic>
          <p:nvPicPr>
            <p:cNvPr id="7" name="그림 29">
              <a:extLst>
                <a:ext uri="{FF2B5EF4-FFF2-40B4-BE49-F238E27FC236}">
                  <a16:creationId xmlns:a16="http://schemas.microsoft.com/office/drawing/2014/main" xmlns="" id="{A66E9A0A-1981-4746-B779-84B777897A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6724" y="901700"/>
              <a:ext cx="2446434" cy="3517239"/>
            </a:xfrm>
            <a:prstGeom prst="rect">
              <a:avLst/>
            </a:prstGeom>
          </p:spPr>
        </p:pic>
        <p:pic>
          <p:nvPicPr>
            <p:cNvPr id="8" name="그림 23">
              <a:extLst>
                <a:ext uri="{FF2B5EF4-FFF2-40B4-BE49-F238E27FC236}">
                  <a16:creationId xmlns:a16="http://schemas.microsoft.com/office/drawing/2014/main" xmlns="" id="{BA41B295-5DF6-4ED2-A3C1-917423C840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4142" y="3951578"/>
              <a:ext cx="1929599" cy="1951281"/>
            </a:xfrm>
            <a:prstGeom prst="rect">
              <a:avLst/>
            </a:prstGeom>
          </p:spPr>
        </p:pic>
        <p:pic>
          <p:nvPicPr>
            <p:cNvPr id="9" name="그림 27">
              <a:extLst>
                <a:ext uri="{FF2B5EF4-FFF2-40B4-BE49-F238E27FC236}">
                  <a16:creationId xmlns:a16="http://schemas.microsoft.com/office/drawing/2014/main" xmlns="" id="{B40ACB71-8828-4244-84DA-C53FB6BD6A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67"/>
            <a:stretch/>
          </p:blipFill>
          <p:spPr>
            <a:xfrm>
              <a:off x="0" y="1148167"/>
              <a:ext cx="2882724" cy="3392258"/>
            </a:xfrm>
            <a:prstGeom prst="rect">
              <a:avLst/>
            </a:prstGeom>
          </p:spPr>
        </p:pic>
        <p:pic>
          <p:nvPicPr>
            <p:cNvPr id="10" name="그림 32">
              <a:extLst>
                <a:ext uri="{FF2B5EF4-FFF2-40B4-BE49-F238E27FC236}">
                  <a16:creationId xmlns:a16="http://schemas.microsoft.com/office/drawing/2014/main" xmlns="" id="{C8AB258A-BC25-4A4A-A2EB-1BDCDFD9A4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7506" y="1427519"/>
              <a:ext cx="2359505" cy="5403444"/>
            </a:xfrm>
            <a:prstGeom prst="rect">
              <a:avLst/>
            </a:prstGeom>
          </p:spPr>
        </p:pic>
        <p:pic>
          <p:nvPicPr>
            <p:cNvPr id="11" name="그림 34">
              <a:extLst>
                <a:ext uri="{FF2B5EF4-FFF2-40B4-BE49-F238E27FC236}">
                  <a16:creationId xmlns:a16="http://schemas.microsoft.com/office/drawing/2014/main" xmlns="" id="{9BF8CACC-0486-40A1-AA3A-7FBF89F804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387" y="3465741"/>
              <a:ext cx="2103199" cy="339225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7D255E4-F1D7-4109-98E9-95385E84AA62}"/>
              </a:ext>
            </a:extLst>
          </p:cNvPr>
          <p:cNvGrpSpPr/>
          <p:nvPr/>
        </p:nvGrpSpPr>
        <p:grpSpPr>
          <a:xfrm>
            <a:off x="6442289" y="1235765"/>
            <a:ext cx="5049078" cy="4386470"/>
            <a:chOff x="6442289" y="1235765"/>
            <a:chExt cx="5049078" cy="438647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63DD9CF-C5E6-47E3-BD8F-14E7B655B5EA}"/>
                </a:ext>
              </a:extLst>
            </p:cNvPr>
            <p:cNvSpPr/>
            <p:nvPr/>
          </p:nvSpPr>
          <p:spPr>
            <a:xfrm>
              <a:off x="6442289" y="1235765"/>
              <a:ext cx="5049078" cy="4386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033E341-BB72-4F8E-9503-C91BE3EE6587}"/>
                </a:ext>
              </a:extLst>
            </p:cNvPr>
            <p:cNvSpPr txBox="1"/>
            <p:nvPr/>
          </p:nvSpPr>
          <p:spPr>
            <a:xfrm>
              <a:off x="6629540" y="1443291"/>
              <a:ext cx="4521902" cy="3739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 smtClean="0">
                  <a:solidFill>
                    <a:schemeClr val="bg1"/>
                  </a:solidFill>
                  <a:latin typeface="Georgia" panose="02040502050405020303" pitchFamily="18" charset="0"/>
                  <a:ea typeface="Cambria" panose="02040503050406030204" pitchFamily="18" charset="0"/>
                  <a:cs typeface="+mj-cs"/>
                </a:rPr>
                <a:t>SQL PROJECT ON</a:t>
              </a:r>
            </a:p>
            <a:p>
              <a:pPr algn="ctr"/>
              <a:endParaRPr lang="en-IN" sz="4000" dirty="0" smtClean="0"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+mj-cs"/>
              </a:endParaRPr>
            </a:p>
            <a:p>
              <a:pPr algn="ctr"/>
              <a:r>
                <a:rPr lang="en-IN" sz="4000" dirty="0" smtClean="0">
                  <a:solidFill>
                    <a:schemeClr val="bg1"/>
                  </a:solidFill>
                  <a:latin typeface="Georgia" panose="02040502050405020303" pitchFamily="18" charset="0"/>
                  <a:ea typeface="Cambria" panose="02040503050406030204" pitchFamily="18" charset="0"/>
                  <a:cs typeface="+mj-cs"/>
                </a:rPr>
                <a:t> </a:t>
              </a:r>
              <a:r>
                <a:rPr lang="en-IN" sz="2800" dirty="0" smtClean="0">
                  <a:solidFill>
                    <a:schemeClr val="bg1"/>
                  </a:solidFill>
                  <a:latin typeface="Georgia" panose="02040502050405020303" pitchFamily="18" charset="0"/>
                  <a:ea typeface="Cambria" panose="02040503050406030204" pitchFamily="18" charset="0"/>
                  <a:cs typeface="+mj-cs"/>
                </a:rPr>
                <a:t>CHINOOK  MUSIC STORE SALES ANALYSIS</a:t>
              </a:r>
            </a:p>
            <a:p>
              <a:pPr algn="ctr"/>
              <a:endParaRPr lang="en-IN" sz="2800" dirty="0"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+mj-cs"/>
              </a:endParaRPr>
            </a:p>
            <a:p>
              <a:pPr algn="ctr"/>
              <a:endParaRPr lang="en-IN" sz="4000" dirty="0" smtClean="0">
                <a:solidFill>
                  <a:schemeClr val="bg1"/>
                </a:solidFill>
                <a:latin typeface="Georgia" panose="02040502050405020303" pitchFamily="18" charset="0"/>
                <a:ea typeface="Cambria" panose="02040503050406030204" pitchFamily="18" charset="0"/>
                <a:cs typeface="+mj-cs"/>
              </a:endParaRPr>
            </a:p>
            <a:p>
              <a:pPr algn="ctr">
                <a:spcBef>
                  <a:spcPts val="600"/>
                </a:spcBef>
              </a:pPr>
              <a:r>
                <a:rPr lang="en-GB" sz="1600" dirty="0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Prepared by – </a:t>
              </a:r>
              <a:r>
                <a:rPr lang="en-GB" sz="1600" dirty="0" err="1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Yash</a:t>
              </a:r>
              <a:r>
                <a:rPr lang="en-GB" sz="1600" dirty="0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 Shirke</a:t>
              </a:r>
              <a:endParaRPr lang="en-US" sz="1600" dirty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651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47D255E4-F1D7-4109-98E9-95385E84AA62}"/>
              </a:ext>
            </a:extLst>
          </p:cNvPr>
          <p:cNvGrpSpPr/>
          <p:nvPr/>
        </p:nvGrpSpPr>
        <p:grpSpPr>
          <a:xfrm>
            <a:off x="0" y="0"/>
            <a:ext cx="12192000" cy="6875417"/>
            <a:chOff x="6442289" y="1235765"/>
            <a:chExt cx="5049078" cy="438647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A63DD9CF-C5E6-47E3-BD8F-14E7B655B5EA}"/>
                </a:ext>
              </a:extLst>
            </p:cNvPr>
            <p:cNvSpPr/>
            <p:nvPr/>
          </p:nvSpPr>
          <p:spPr>
            <a:xfrm>
              <a:off x="6442289" y="1235765"/>
              <a:ext cx="5049078" cy="4386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A033E341-BB72-4F8E-9503-C91BE3EE6587}"/>
                </a:ext>
              </a:extLst>
            </p:cNvPr>
            <p:cNvSpPr txBox="1"/>
            <p:nvPr/>
          </p:nvSpPr>
          <p:spPr>
            <a:xfrm>
              <a:off x="6636753" y="1799372"/>
              <a:ext cx="1947787" cy="8443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Tools Used</a:t>
              </a:r>
            </a:p>
            <a:p>
              <a:pPr marL="2114550" lvl="4" indent="-285750">
                <a:buFont typeface="Arial" panose="020B0604020202020204" pitchFamily="34" charset="0"/>
                <a:buChar char="•"/>
              </a:pPr>
              <a:r>
                <a:rPr lang="en-US" sz="1600" dirty="0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SQL</a:t>
              </a:r>
            </a:p>
            <a:p>
              <a:pPr marL="2114550" lvl="4" indent="-285750">
                <a:buFont typeface="Arial" panose="020B0604020202020204" pitchFamily="34" charset="0"/>
                <a:buChar char="•"/>
              </a:pPr>
              <a:r>
                <a:rPr lang="en-US" sz="1600" dirty="0" smtClean="0">
                  <a:solidFill>
                    <a:schemeClr val="bg1"/>
                  </a:solidFill>
                  <a:latin typeface="Georgia Pro Light" panose="02040302050405020303" pitchFamily="18" charset="0"/>
                </a:rPr>
                <a:t>POWER POINT</a:t>
              </a:r>
            </a:p>
            <a:p>
              <a:pPr algn="ctr"/>
              <a:endParaRPr lang="en-US" sz="1600" dirty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  <a:p>
              <a:pPr algn="ctr"/>
              <a:endParaRPr lang="en-US" sz="1600" dirty="0" smtClean="0">
                <a:solidFill>
                  <a:schemeClr val="bg1"/>
                </a:solidFill>
                <a:latin typeface="Georgia Pro Light" panose="02040302050405020303" pitchFamily="18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713412" y="2672238"/>
            <a:ext cx="470331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r>
              <a:rPr lang="en-US" dirty="0"/>
              <a:t>DATASETS TABLES</a:t>
            </a:r>
          </a:p>
          <a:p>
            <a:pPr lvl="4"/>
            <a:r>
              <a:rPr lang="en-US" dirty="0" smtClean="0"/>
              <a:t>Album</a:t>
            </a:r>
            <a:endParaRPr lang="en-US" dirty="0"/>
          </a:p>
          <a:p>
            <a:pPr lvl="4"/>
            <a:r>
              <a:rPr lang="en-US" dirty="0" smtClean="0"/>
              <a:t>Artist</a:t>
            </a:r>
            <a:endParaRPr lang="en-US" dirty="0"/>
          </a:p>
          <a:p>
            <a:pPr lvl="4"/>
            <a:r>
              <a:rPr lang="en-US" dirty="0" smtClean="0"/>
              <a:t>Track</a:t>
            </a:r>
            <a:endParaRPr lang="en-US" dirty="0"/>
          </a:p>
          <a:p>
            <a:pPr lvl="4"/>
            <a:r>
              <a:rPr lang="en-US" dirty="0"/>
              <a:t>Invoice</a:t>
            </a:r>
          </a:p>
          <a:p>
            <a:pPr lvl="4"/>
            <a:r>
              <a:rPr lang="en-US" dirty="0"/>
              <a:t>Customer </a:t>
            </a:r>
          </a:p>
          <a:p>
            <a:pPr lvl="4"/>
            <a:r>
              <a:rPr lang="en-US" dirty="0" err="1"/>
              <a:t>InvoiceLine</a:t>
            </a:r>
            <a:r>
              <a:rPr lang="en-US" dirty="0"/>
              <a:t> </a:t>
            </a:r>
          </a:p>
          <a:p>
            <a:pPr lvl="4"/>
            <a:r>
              <a:rPr lang="en-US" dirty="0"/>
              <a:t>Genre</a:t>
            </a:r>
          </a:p>
          <a:p>
            <a:pPr lvl="4"/>
            <a:r>
              <a:rPr lang="en-US" dirty="0"/>
              <a:t>Employee</a:t>
            </a:r>
          </a:p>
          <a:p>
            <a:pPr lvl="4"/>
            <a:r>
              <a:rPr lang="en-US" dirty="0" err="1"/>
              <a:t>Mediatype</a:t>
            </a:r>
            <a:endParaRPr lang="en-US" dirty="0"/>
          </a:p>
          <a:p>
            <a:pPr lvl="4"/>
            <a:r>
              <a:rPr lang="en-US" dirty="0"/>
              <a:t>Playlist</a:t>
            </a:r>
          </a:p>
          <a:p>
            <a:pPr lvl="4"/>
            <a:r>
              <a:rPr lang="en-US" dirty="0" err="1"/>
              <a:t>Playlisttrack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04709" y="0"/>
            <a:ext cx="6087291" cy="6858000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6737567" y="604191"/>
            <a:ext cx="470331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</a:t>
            </a:r>
            <a:endParaRPr lang="en-US" sz="36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meaningful business insights from a relational music store database (Chinook) using advanced SQL techniques such as JOINs,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subqueries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window functions.</a:t>
            </a:r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49" y="3322490"/>
            <a:ext cx="5608320" cy="337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7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4285668" y="358908"/>
            <a:ext cx="4703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latin typeface="Georgia Pro Light" panose="02040302050405020303" pitchFamily="18" charset="0"/>
              </a:rPr>
              <a:t>Tools Used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  <a:latin typeface="Georgia Pro Light" panose="02040302050405020303" pitchFamily="18" charset="0"/>
              </a:rPr>
              <a:t>SQL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  <a:latin typeface="Georgia Pro Light" panose="02040302050405020303" pitchFamily="18" charset="0"/>
              </a:rPr>
              <a:t>POWER POINT</a:t>
            </a:r>
          </a:p>
          <a:p>
            <a:pPr algn="ctr"/>
            <a:endParaRPr lang="en-US" sz="1600" dirty="0">
              <a:solidFill>
                <a:schemeClr val="bg1"/>
              </a:solidFill>
              <a:latin typeface="Georgia Pro Light" panose="02040302050405020303" pitchFamily="18" charset="0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5053" y="0"/>
            <a:ext cx="8656948" cy="6858000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6489"/>
              </p:ext>
            </p:extLst>
          </p:nvPr>
        </p:nvGraphicFramePr>
        <p:xfrm>
          <a:off x="1" y="0"/>
          <a:ext cx="4279768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768"/>
              </a:tblGrid>
              <a:tr h="685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4484220" y="192407"/>
            <a:ext cx="743125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CONCEPT AND FUNCTION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Clauses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OREDER 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WITH(CTE)</a:t>
            </a:r>
          </a:p>
          <a:p>
            <a:pPr algn="ctr"/>
            <a:endPara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85667" cy="6857999"/>
          </a:xfrm>
          <a:prstGeom prst="rect">
            <a:avLst/>
          </a:prstGeom>
        </p:spPr>
      </p:pic>
      <p:sp>
        <p:nvSpPr>
          <p:cNvPr id="2" name="Isosceles Triangle 1"/>
          <p:cNvSpPr/>
          <p:nvPr/>
        </p:nvSpPr>
        <p:spPr>
          <a:xfrm rot="1951334">
            <a:off x="3725226" y="1094396"/>
            <a:ext cx="1428552" cy="1088571"/>
          </a:xfrm>
          <a:prstGeom prst="triangle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8055058" y="891576"/>
            <a:ext cx="40589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/>
              <a:t>Aggregate </a:t>
            </a:r>
            <a:r>
              <a:rPr lang="en-US" sz="1600" dirty="0" smtClean="0"/>
              <a:t>Function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</a:p>
          <a:p>
            <a:pPr algn="ctr"/>
            <a:endPara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8055058" y="2720095"/>
            <a:ext cx="40589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Total </a:t>
            </a:r>
            <a:r>
              <a:rPr lang="en-US" sz="1600" dirty="0" smtClean="0"/>
              <a:t>Revenue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Top </a:t>
            </a:r>
            <a:r>
              <a:rPr lang="en-US" sz="1600" dirty="0"/>
              <a:t>5 Customers by </a:t>
            </a:r>
            <a:r>
              <a:rPr lang="en-US" sz="1600" dirty="0" smtClean="0"/>
              <a:t>Revenue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Sales per </a:t>
            </a:r>
            <a:r>
              <a:rPr lang="en-US" sz="1600" dirty="0" smtClean="0"/>
              <a:t>Customer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Track Names with Artist and Genre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Above Average </a:t>
            </a:r>
            <a:r>
              <a:rPr lang="en-US" sz="1600" dirty="0" smtClean="0"/>
              <a:t>Spend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Rank Tracks by Price within </a:t>
            </a:r>
            <a:r>
              <a:rPr lang="en-US" sz="1600" dirty="0" smtClean="0"/>
              <a:t>Genre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Top-Selling Track by </a:t>
            </a:r>
            <a:r>
              <a:rPr lang="en-US" sz="1600" dirty="0" smtClean="0"/>
              <a:t>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Artist with the Most </a:t>
            </a:r>
            <a:r>
              <a:rPr lang="en-US" sz="1600" dirty="0" smtClean="0"/>
              <a:t>Tracks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Lifetime </a:t>
            </a:r>
            <a:r>
              <a:rPr lang="en-US" sz="1600" dirty="0" smtClean="0"/>
              <a:t>Value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Revenue by </a:t>
            </a:r>
            <a:r>
              <a:rPr lang="en-US" sz="1600" dirty="0" smtClean="0"/>
              <a:t>Country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Items per Invoice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4484220" y="3947476"/>
            <a:ext cx="35708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SQL 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</a:p>
          <a:p>
            <a:pPr algn="ctr"/>
            <a:endPara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00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-37708"/>
            <a:ext cx="12192000" cy="6875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78117" y="-37708"/>
            <a:ext cx="9403721" cy="6875417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-87002" y="105861"/>
            <a:ext cx="287528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revenue generated from all invoices in the dataset.</a:t>
            </a:r>
            <a:endParaRPr lang="en-US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17407" y="383236"/>
            <a:ext cx="470331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SUM(Total) AS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TotalRevenue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Invoice;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35" y="275758"/>
            <a:ext cx="2904269" cy="8756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-10162" y="1479671"/>
            <a:ext cx="2690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Value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average invoice amount, showing typical customer spending per order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17407" y="2071331"/>
            <a:ext cx="470331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AVG(Total) AS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AverageInvoiceValue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Invoice;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892" y="1894568"/>
            <a:ext cx="2904269" cy="9383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21854" y="4283105"/>
            <a:ext cx="270759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Customers by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algn="ctr"/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high-value customers for loyalty programs</a:t>
            </a:r>
            <a:endParaRPr lang="en-US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436722" y="4045641"/>
            <a:ext cx="4162017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c.LastName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i.Total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Revenue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 JOIN Invoice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c.LastName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Revenue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 LIMIT 5; 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683" y="4045640"/>
            <a:ext cx="3933972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-37708"/>
            <a:ext cx="12192000" cy="68913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8279" y="-37707"/>
            <a:ext cx="9403721" cy="6891354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0" y="0"/>
            <a:ext cx="27075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Tracks with Artist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/>
              <a:t>Lists every track along with its artist and genre, giving a full music catalog view</a:t>
            </a:r>
            <a:endParaRPr lang="en-US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09384" y="200856"/>
            <a:ext cx="4162017" cy="20005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/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ar.Name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Artist,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Genre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Track t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Album a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t.AlbumId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a.AlbumId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Artist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a.ArtistId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ar.ArtistId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Genre g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t.GenreId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g.GenreId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5260" y="3186455"/>
            <a:ext cx="2707598" cy="99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smtClean="0"/>
              <a:t>.</a:t>
            </a:r>
            <a:endParaRPr lang="en-US" dirty="0"/>
          </a:p>
          <a:p>
            <a:pPr algn="ctr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506" y="200857"/>
            <a:ext cx="4410977" cy="2446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5260" y="3186455"/>
            <a:ext cx="27075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Above Average Spend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/>
              <a:t>Shows customers whose invoice value is above average, useful for identifying high-value clients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44218" y="3480820"/>
            <a:ext cx="4162017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TotalFROM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JOIN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i.CustomerIdWHERE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&gt; (SELECT AVG(Total) FROM Invoice);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174" y="3247418"/>
            <a:ext cx="3210373" cy="342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1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-37708"/>
            <a:ext cx="12192000" cy="68957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8279" y="-37707"/>
            <a:ext cx="9403721" cy="6895708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0" y="0"/>
            <a:ext cx="27075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Tracks by Price within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by price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within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genre, highlighting premium tracks per genre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44218" y="674909"/>
            <a:ext cx="4162017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Genre,      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RANK() OVER (PARTITION BY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t.UnitPrice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DESC) AS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PriceRank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Track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tJOIN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Genre g ON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t.GenreId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g.GenreId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195" y="144201"/>
            <a:ext cx="2649682" cy="28681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80681" y="3187337"/>
            <a:ext cx="27075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Top-Selling Tracks by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/>
              <a:t>Finds top 5 tracks generating highest revenue, useful for marketing and inventory focus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144218" y="3444146"/>
            <a:ext cx="416201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SUM(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il.UnitPrice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il.Quantity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TotalRevenue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InvoiceLine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ilJOIN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 t ON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il.TrackId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t.TrackId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t.TrackId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TotalRevenue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 </a:t>
            </a:r>
          </a:p>
          <a:p>
            <a:pPr lvl="0"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5;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11" y="3444146"/>
            <a:ext cx="2560853" cy="167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0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256"/>
            <a:ext cx="12192000" cy="6875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8279" y="-1"/>
            <a:ext cx="9403721" cy="6875673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248721" y="505163"/>
            <a:ext cx="4162017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TotalFROM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JOIN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i.CustomerIdWHERE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&gt; (SELECT AVG(Total) FROM Invoice);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-10162" y="181998"/>
            <a:ext cx="270759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 with the Most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Tracks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/>
              <a:t>Shows customers whose invoice value is above average, useful for identifying high-value clients</a:t>
            </a:r>
            <a:r>
              <a:rPr lang="en-US" sz="2400" dirty="0"/>
              <a:t>.</a:t>
            </a:r>
          </a:p>
          <a:p>
            <a:pPr algn="ctr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431" y="361525"/>
            <a:ext cx="3210373" cy="342145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2411" y="3521749"/>
            <a:ext cx="240183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Customer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Lifetime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cs typeface="Times New Roman" panose="02020603050405020304" pitchFamily="18" charset="0"/>
              </a:rPr>
              <a:t>Shows lifetime  value of customer by sum of  total from invoice.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275865" y="3782984"/>
            <a:ext cx="470989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c.LastName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SUM(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i.Total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LifetimeValue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i.CustomerId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c.CustomerId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c.FirstName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c.LastName</a:t>
            </a:r>
            <a:endParaRPr lang="en-US" sz="1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LifetimeValue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431" y="3991409"/>
            <a:ext cx="368789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0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256"/>
            <a:ext cx="12192000" cy="6875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8279" y="0"/>
            <a:ext cx="9403721" cy="6875673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275865" y="505163"/>
            <a:ext cx="4162017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SELECT </a:t>
            </a:r>
            <a:r>
              <a:rPr lang="en-US" sz="1800" dirty="0" err="1">
                <a:solidFill>
                  <a:schemeClr val="tx1"/>
                </a:solidFill>
              </a:rPr>
              <a:t>c.Country</a:t>
            </a:r>
            <a:r>
              <a:rPr lang="en-US" sz="1800" dirty="0">
                <a:solidFill>
                  <a:schemeClr val="tx1"/>
                </a:solidFill>
              </a:rPr>
              <a:t>, SUM(</a:t>
            </a:r>
            <a:r>
              <a:rPr lang="en-US" sz="1800" dirty="0" err="1">
                <a:solidFill>
                  <a:schemeClr val="tx1"/>
                </a:solidFill>
              </a:rPr>
              <a:t>i.Total</a:t>
            </a:r>
            <a:r>
              <a:rPr lang="en-US" sz="1800" dirty="0">
                <a:solidFill>
                  <a:schemeClr val="tx1"/>
                </a:solidFill>
              </a:rPr>
              <a:t>) AS </a:t>
            </a:r>
            <a:r>
              <a:rPr lang="en-US" sz="1800" dirty="0" err="1">
                <a:solidFill>
                  <a:schemeClr val="tx1"/>
                </a:solidFill>
              </a:rPr>
              <a:t>TotalRevenue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FROM </a:t>
            </a:r>
            <a:r>
              <a:rPr lang="en-US" sz="1800" dirty="0">
                <a:solidFill>
                  <a:schemeClr val="tx1"/>
                </a:solidFill>
              </a:rPr>
              <a:t>Invoice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JOIN </a:t>
            </a:r>
            <a:r>
              <a:rPr lang="en-US" sz="1800" dirty="0">
                <a:solidFill>
                  <a:schemeClr val="tx1"/>
                </a:solidFill>
              </a:rPr>
              <a:t>Customer c ON </a:t>
            </a:r>
            <a:r>
              <a:rPr lang="en-US" sz="1800" dirty="0" err="1">
                <a:solidFill>
                  <a:schemeClr val="tx1"/>
                </a:solidFill>
              </a:rPr>
              <a:t>i.CustomerId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dirty="0" err="1">
                <a:solidFill>
                  <a:schemeClr val="tx1"/>
                </a:solidFill>
              </a:rPr>
              <a:t>c.CustomerId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GROUP </a:t>
            </a:r>
            <a:r>
              <a:rPr lang="en-US" sz="1800" dirty="0">
                <a:solidFill>
                  <a:schemeClr val="tx1"/>
                </a:solidFill>
              </a:rPr>
              <a:t>BY </a:t>
            </a:r>
            <a:r>
              <a:rPr lang="en-US" sz="1800" dirty="0" err="1">
                <a:solidFill>
                  <a:schemeClr val="tx1"/>
                </a:solidFill>
              </a:rPr>
              <a:t>c.Country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ORDER </a:t>
            </a:r>
            <a:r>
              <a:rPr lang="en-US" sz="1800" dirty="0">
                <a:solidFill>
                  <a:schemeClr val="tx1"/>
                </a:solidFill>
              </a:rPr>
              <a:t>BY </a:t>
            </a:r>
            <a:r>
              <a:rPr lang="en-US" sz="1800" dirty="0" err="1">
                <a:solidFill>
                  <a:schemeClr val="tx1"/>
                </a:solidFill>
              </a:rPr>
              <a:t>TotalRevenue</a:t>
            </a:r>
            <a:r>
              <a:rPr lang="en-US" sz="1800" dirty="0">
                <a:solidFill>
                  <a:schemeClr val="tx1"/>
                </a:solidFill>
              </a:rPr>
              <a:t> DESC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-10162" y="181998"/>
            <a:ext cx="270759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cs typeface="Times New Roman" panose="02020603050405020304" pitchFamily="18" charset="0"/>
              </a:rPr>
              <a:t>Shows total sales across country </a:t>
            </a:r>
            <a:endParaRPr lang="en-US" sz="3200" dirty="0"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2411" y="3521749"/>
            <a:ext cx="24018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Items per Invoice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 smtClean="0">
                <a:cs typeface="Times New Roman" panose="02020603050405020304" pitchFamily="18" charset="0"/>
              </a:rPr>
              <a:t>Calculated average of items against invoice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275865" y="3782984"/>
            <a:ext cx="4709895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1pPr>
            <a:lvl5pPr marL="2114550" lvl="4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Georgia Pro Light" panose="02040302050405020303" pitchFamily="18" charset="0"/>
              </a:defRPr>
            </a:lvl5pPr>
          </a:lstStyle>
          <a:p>
            <a:pPr algn="l"/>
            <a:r>
              <a:rPr lang="en-US" sz="1800" dirty="0">
                <a:solidFill>
                  <a:schemeClr val="tx1"/>
                </a:solidFill>
              </a:rPr>
              <a:t>SELECT AVG(</a:t>
            </a:r>
            <a:r>
              <a:rPr lang="en-US" sz="1800" dirty="0" err="1">
                <a:solidFill>
                  <a:schemeClr val="tx1"/>
                </a:solidFill>
              </a:rPr>
              <a:t>ItemsPerInvoice</a:t>
            </a:r>
            <a:r>
              <a:rPr lang="en-US" sz="1800" dirty="0">
                <a:solidFill>
                  <a:schemeClr val="tx1"/>
                </a:solidFill>
              </a:rPr>
              <a:t>) AS </a:t>
            </a:r>
            <a:r>
              <a:rPr lang="en-US" sz="1800" dirty="0" err="1">
                <a:solidFill>
                  <a:schemeClr val="tx1"/>
                </a:solidFill>
              </a:rPr>
              <a:t>AvgItemsPerInvoice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FROM </a:t>
            </a:r>
            <a:r>
              <a:rPr lang="en-US" sz="1800" dirty="0">
                <a:solidFill>
                  <a:schemeClr val="tx1"/>
                </a:solidFill>
              </a:rPr>
              <a:t>( SELECT DISTINCT </a:t>
            </a:r>
            <a:r>
              <a:rPr lang="en-US" sz="1800" dirty="0" err="1">
                <a:solidFill>
                  <a:schemeClr val="tx1"/>
                </a:solidFill>
              </a:rPr>
              <a:t>il.InvoiceId</a:t>
            </a:r>
            <a:r>
              <a:rPr lang="en-US" sz="1800" dirty="0">
                <a:solidFill>
                  <a:schemeClr val="tx1"/>
                </a:solidFill>
              </a:rPr>
              <a:t>, COUNT(</a:t>
            </a:r>
            <a:r>
              <a:rPr lang="en-US" sz="1800" dirty="0" err="1">
                <a:solidFill>
                  <a:schemeClr val="tx1"/>
                </a:solidFill>
              </a:rPr>
              <a:t>il.TrackId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endParaRPr lang="en-US" sz="1800" dirty="0" smtClean="0">
              <a:solidFill>
                <a:schemeClr val="tx1"/>
              </a:solidFill>
            </a:endParaRPr>
          </a:p>
          <a:p>
            <a:pPr algn="l"/>
            <a:r>
              <a:rPr lang="en-US" sz="1800" dirty="0" smtClean="0">
                <a:solidFill>
                  <a:schemeClr val="tx1"/>
                </a:solidFill>
              </a:rPr>
              <a:t>OVER </a:t>
            </a:r>
            <a:r>
              <a:rPr lang="en-US" sz="1800" dirty="0">
                <a:solidFill>
                  <a:schemeClr val="tx1"/>
                </a:solidFill>
              </a:rPr>
              <a:t>(PARTITION BY </a:t>
            </a:r>
            <a:r>
              <a:rPr lang="en-US" sz="1800" dirty="0" err="1">
                <a:solidFill>
                  <a:schemeClr val="tx1"/>
                </a:solidFill>
              </a:rPr>
              <a:t>il.InvoiceId</a:t>
            </a:r>
            <a:r>
              <a:rPr lang="en-US" sz="1800" dirty="0">
                <a:solidFill>
                  <a:schemeClr val="tx1"/>
                </a:solidFill>
              </a:rPr>
              <a:t>) AS </a:t>
            </a:r>
            <a:r>
              <a:rPr lang="en-US" sz="1800" dirty="0" err="1">
                <a:solidFill>
                  <a:schemeClr val="tx1"/>
                </a:solidFill>
              </a:rPr>
              <a:t>ItemsPerInvoice</a:t>
            </a:r>
            <a:r>
              <a:rPr lang="en-US" sz="1800" dirty="0">
                <a:solidFill>
                  <a:schemeClr val="tx1"/>
                </a:solidFill>
              </a:rPr>
              <a:t> FROM </a:t>
            </a:r>
            <a:r>
              <a:rPr lang="en-US" sz="1800" dirty="0" err="1">
                <a:solidFill>
                  <a:schemeClr val="tx1"/>
                </a:solidFill>
              </a:rPr>
              <a:t>InvoiceLine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il</a:t>
            </a:r>
            <a:r>
              <a:rPr lang="en-US" sz="1800" dirty="0">
                <a:solidFill>
                  <a:schemeClr val="tx1"/>
                </a:solidFill>
              </a:rPr>
              <a:t> ) AS Sub;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218" y="143910"/>
            <a:ext cx="2953162" cy="31048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218" y="3457159"/>
            <a:ext cx="2229161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66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63DD9CF-C5E6-47E3-BD8F-14E7B655B5EA}"/>
              </a:ext>
            </a:extLst>
          </p:cNvPr>
          <p:cNvSpPr/>
          <p:nvPr/>
        </p:nvSpPr>
        <p:spPr>
          <a:xfrm>
            <a:off x="-10162" y="256"/>
            <a:ext cx="12192000" cy="68754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5986452" y="713588"/>
            <a:ext cx="47033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 smtClean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8279" y="0"/>
            <a:ext cx="9403721" cy="6875673"/>
          </a:xfrm>
          <a:prstGeom prst="rect">
            <a:avLst/>
          </a:prstGeom>
          <a:solidFill>
            <a:srgbClr val="F49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033E341-BB72-4F8E-9503-C91BE3EE6587}"/>
              </a:ext>
            </a:extLst>
          </p:cNvPr>
          <p:cNvSpPr txBox="1"/>
          <p:nvPr/>
        </p:nvSpPr>
        <p:spPr>
          <a:xfrm>
            <a:off x="3553097" y="1286251"/>
            <a:ext cx="80205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/>
              <a:t>Using SQL, we extracted key business insights from the Chinook database. Advanced functions like JOINs, </a:t>
            </a:r>
            <a:r>
              <a:rPr lang="en-US" sz="2400" dirty="0" err="1" smtClean="0"/>
              <a:t>subqueries</a:t>
            </a:r>
            <a:r>
              <a:rPr lang="en-US" sz="2400" dirty="0"/>
              <a:t>, and window functions enabled deep analysis across customer, artist, product, and geographic dimensions.</a:t>
            </a:r>
            <a:endParaRPr lang="en-US" sz="2400" dirty="0"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4" y="0"/>
            <a:ext cx="3251204" cy="687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6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650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Georgia</vt:lpstr>
      <vt:lpstr>Georgia Pro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Kavithalaya</dc:creator>
  <cp:lastModifiedBy>Microsoft account</cp:lastModifiedBy>
  <cp:revision>25</cp:revision>
  <dcterms:created xsi:type="dcterms:W3CDTF">2021-09-02T06:38:44Z</dcterms:created>
  <dcterms:modified xsi:type="dcterms:W3CDTF">2026-06-23T09:42:43Z</dcterms:modified>
</cp:coreProperties>
</file>